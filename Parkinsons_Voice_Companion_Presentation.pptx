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E5FF"/>
                </a:solidFill>
                <a:latin typeface="Calibri Light"/>
              </a:rPr>
              <a:t>Parkinson's Voice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CCCC"/>
                </a:solidFill>
                <a:latin typeface="Calibri"/>
              </a:rPr>
              <a:t>ML-Powered Acoustic Biomarker Analysis for Non-Invasive Parkinson's Disease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697480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880360"/>
            <a:ext cx="8165592" cy="2743200"/>
          </a:xfrm>
          <a:prstGeom prst="rect">
            <a:avLst/>
          </a:prstGeom>
          <a:solidFill>
            <a:srgbClr val="121828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017520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0E5FF"/>
                </a:solidFill>
                <a:latin typeface="Calibri"/>
              </a:rPr>
              <a:t>Subject: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01752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51129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0E5FF"/>
                </a:solidFill>
                <a:latin typeface="Calibri"/>
              </a:rPr>
              <a:t>Name: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511296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Raaghav Agarwal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0507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0E5FF"/>
                </a:solidFill>
                <a:latin typeface="Calibri"/>
              </a:rPr>
              <a:t>Registration No.: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0507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24BAI1453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498848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0E5FF"/>
                </a:solidFill>
                <a:latin typeface="Calibri"/>
              </a:rPr>
              <a:t>Department: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4498848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B.Tech Artificial Intelligence &amp;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992624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0E5FF"/>
                </a:solidFill>
                <a:latin typeface="Calibri"/>
              </a:rPr>
              <a:t>GitHub Repository: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992624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0D4FF"/>
                </a:solidFill>
                <a:latin typeface="Calibri"/>
              </a:rPr>
              <a:t>github.com/RaaghavAgarwal28/parkinsons-voice-companion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644652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VIT Vellore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Why Voice? Why Machine Learning? Why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5394960" cy="48920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Parkinson's Disease (PD) affects 10 million+ people worldwide.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It is a progressive neurodegenerative disorder impacting motor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control, including the vocal muscles — causing 'dysphonia'.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Up to 90% of PD patients develop voice disorders (hypophonia,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tremor, monotone pitch) often appearing years before motor symptoms.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Clinical diagnosis relies on neurologist visits: expensive,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infrequent, and subjective.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Current tools: Wearables are obtrusive; MRI/PET scans are costly.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261872"/>
            <a:ext cx="5394960" cy="48920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71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  <a:latin typeface="Calibri"/>
              </a:rPr>
              <a:t>Our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19072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 browser-based, zero-hardware clinical screening tool.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Records 3-5 seconds of sustained vowel phonation (/a/).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Automatically extracts 22 validated acoustic biomarkers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(Jitter, Shimmer, HNR, PPE, RPDE, DFA ...).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Runs a 5-model ensemble ML pipeline: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SVM  |  Random Forest  |  CNN-BiLSTM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Autoencoder  |  UPDRS Regressor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Outputs: PD probability, UPDRS severity score,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longitudinal tracking, LSVT LOUD vocal therapy coaching.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3550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C27B0"/>
                </a:solidFill>
                <a:latin typeface="Calibri"/>
              </a:rPr>
              <a:t>"Your voice is your most accessible biomarker - and we turn it into a clinical compass."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Identified from Literature Survey &amp; Clinical Gap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1673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[1]  Delayed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131673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PD is typically diagnosed 5-10 years after neurodegeneration begins. No affordable, continuous, home-deployable screening tool exists for early detection.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3055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8541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[2]  Subjective Clinical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18541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The UPDRS relies heavily on clinician subjectivity and infrequent hospital visits — missing daily motor fluctuations.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9923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5409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[3]  Medication 'Off-Phase' Blindspot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05409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Levodopa-treated patients experience unpredictable 'On/Off' transitions. No passive acoustic monitoring exists to detect and log these state changes.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86791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2277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[4]  Therapy Non-Adherence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92277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LSVT LOUD is the gold-standard voice therapy for PD, but adherence drops dramatically without real-time biofeedback. Clinic-only delivery is impractical.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73659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9145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[5]  Unimodal 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9145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Existing voice-only systems ignore motor symptoms (tremor, rigidity). Acoustic features alone underestimate disease complexity in later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Research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What Existing Literature Does Not Solve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533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1  |  Real-Time Acoustic Biomarker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007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Most published models are offline batch-processors. No peer-reviewed tool performs deterministic, real-time 22-biomarker extraction inside a browser from live microphone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2618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3533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2  |  Multimodal Fusion of Acoustic + Motor Biomarkers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007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Voice-only studies (Little 2009, Sakar 2019) ignore simultaneous motor symptom data. Zhang et al. (2025) show fusion improves sensitivity but no deployed system implements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8620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535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3  |  Automatic Medication State Change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009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BOCPD (Bayesian Online Changepoint Detection) for acoustic time-series in PD patients is proposed in literature but never integrated into a clinical user-facing 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8620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9535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4  |  Integrated LSVT LOUD Biofeedback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3009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LSVT LOUD therapy is clinician-administered. No home-based, browser-deployable biofeedback system measures MPT, dB SPL, and pitch stability in real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462272"/>
            <a:ext cx="11548872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553712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5  |  Explainable AI (XAI) for Clinical Trust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01184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Black-box ML models are distrusted by clinicians. Providing per-feature z-score comparisons against normative baselines addresses this gap with transparent biomarker breakdown.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Research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Addressing Each Identified Gap with a Concrete Deliverable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658368" cy="84124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46304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1261872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316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0E5FF"/>
                </a:solidFill>
                <a:latin typeface="Calibri"/>
              </a:rPr>
              <a:t>Build a Real-Time DSP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664208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Implement a deterministic Python pipeline (librosa + parselmouth) to extract all 22 Little et al. Oxford acoustic biomarkers from live browser audio within 2 seconds.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57984"/>
            <a:ext cx="658368" cy="84124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35915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2157984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22128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0E676"/>
                </a:solidFill>
                <a:latin typeface="Calibri"/>
              </a:rPr>
              <a:t>Train &amp; Deploy a 5-Model Ensemble Classifier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560320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Train SVM, Random Forest, CNN-BiLSTM, Autoencoder on UCI Oxford (195 recordings) and Sakar (756 recordings) datasets to produce a consensus PD probability &gt;= 90% accuracy.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54096"/>
            <a:ext cx="658368" cy="84124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2552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054096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108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B300"/>
                </a:solidFill>
                <a:latin typeface="Calibri"/>
              </a:rPr>
              <a:t>Longitudinal UPDRS Telemonitoring + BOCPD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Implement a regression pipeline on Tsanas Telemonitoring data (5,875 recordings) to predict Motor &amp; Total UPDRS, with Bayesian Changepoint Detection for medication state shifts.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50208"/>
            <a:ext cx="658368" cy="841248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151376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4128" y="3950208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9C27B0"/>
                </a:solidFill>
                <a:latin typeface="Calibri"/>
              </a:rPr>
              <a:t>Develop LSVT LOUD Real-Time Therapy Module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4352544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a browser-based biofeedback system measuring sustained phonation duration (MPT), vocal loudness (dB SPL), and pitch stability to coach patients in the LSVT LOUD protocol.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846320"/>
            <a:ext cx="658368" cy="841248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504748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4128" y="4846320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49011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5722"/>
                </a:solidFill>
                <a:latin typeface="Calibri"/>
              </a:rPr>
              <a:t>Implement Multimodal Motor-Voice 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" y="5248656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Integrate browser-based rapid finger-tapping (MDS-UPDRS Item 3.4 simulation) with voice metrics to produce a composite multimodal severity score following Zhang et al. (2025).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System 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End-to-End Pipeline: Voice Input -&gt; DSP -&gt; ML Inference -&gt; Clinical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diagram_full_1792674967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4887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Methodology &amp;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Steps, Preprocessing, Algorithms, and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3749039" cy="53492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Implementation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347471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1 - Data Collection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UCI Oxford (195 recs, 31 subjects)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UCI Telemonitoring (5,875 recs)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Sakar et al. (756 recs, 252 subjects)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2 - Preprocessing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Librosa: resample to 22,050 Hz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Z-score normalization (StandardScaler)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Train/test split: 80/20 stratified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3 - DSP Feature Extraction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Praat-Parselmouth for f0 contour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22-biomarker vector 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4 - Model Training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SVM (RBF) | RF (100 trees)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CNN-BiLSTM (PyTorch custom)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Autoencoder (healthy vocal encoder)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UPDRS RF regressor (Tsanas features)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5 - Deployment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FastAPI REST backend (Python)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Static HTML + Three.js Frontend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GitHub: parkinsons-voice-companion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261872"/>
            <a:ext cx="3840480" cy="53492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3716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Algorithms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19072"/>
            <a:ext cx="35661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1. Support Vector Machine (SVM)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Kernel: RBF   C=10, gamma=auto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Accuracy: ~93%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2. Random Forest Classifier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n_estimators=100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Accuracy: ~92%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3. CNN-BiLSTM Deep Network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Conv1D (64 filters) -&gt; BiLSTM(128)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-&gt; Dense(1, sigmoid)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Accuracy: ~95%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4. Healthy Vocal Autoencoder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Encoder: 22-&gt;16-&gt;8-&gt;4 (ReLU)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Decoder: 4-&gt;8-&gt;16-&gt;22 (Sigmoid)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Anomaly = MSE z-score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5. Random Forest Regressor (UPDRS)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Target: Motor-UPDRS, Total-UPDRS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MAE ~1.6 pts (Tsanas benchmark)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6. BOCPD (Bayesian Online CP Detect.)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Detects medication state shifts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in UPDRS acoustic time series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61872"/>
            <a:ext cx="3657600" cy="53492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3716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Model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719072"/>
            <a:ext cx="33832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Model          Accuracy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-----------------------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SVM            93.2%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Random Forest  91.8%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CNN-BiLSTM     95.1%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Autoencoder    AUC 0.94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UPDRS Regress  MAE 1.6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Ensemble (weighted avg):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SVM 40% + RF 35% + CNN 25%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Combined Acc: ~94.7%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Feature Importance Top 5: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1. PPE (Pitch Period Entropy)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2. spread1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3. RPDE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4. DFA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5. HNR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Validation: 5-fold cross-val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Hold-out: 20% stratified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Three Peer-Reviewed Clinical Datasets Used for Training &amp;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3657600" cy="49377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3657600" cy="5029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44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0D14"/>
                </a:solidFill>
                <a:latin typeface="Calibri"/>
              </a:rPr>
              <a:t>UCI Oxford Parkinson's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562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CCCCC"/>
                </a:solidFill>
                <a:latin typeface="Calibri"/>
              </a:rPr>
              <a:t>Little et al. (2009) — IEEE Trans. Biomedical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21992"/>
            <a:ext cx="347472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195 voice recordings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31 subjects (23 PD, 8 Healthy Controls)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22 acoustic features: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Jitter, Shimmer, NHR, HNR, RPDE,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DFA, PPE, spread1/2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Binary Target: Status (0=Healthy, 1=PD)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Split: 80/20 stratified train/test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Role: SVM, RF, Autoencoder training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  + normative baseline derivation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Key Finding: PPE + SVM achieves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91.4% sensitivity, 96.7% specificity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325880"/>
            <a:ext cx="3657600" cy="49377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325880"/>
            <a:ext cx="3657600" cy="5029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344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0D14"/>
                </a:solidFill>
                <a:latin typeface="Calibri"/>
              </a:rPr>
              <a:t>UCI Parkinson's Telemonitoring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8562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CCCCC"/>
                </a:solidFill>
                <a:latin typeface="Calibri"/>
              </a:rPr>
              <a:t>Tsanas et al. (2010) — IEEE Trans. Biomedical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221992"/>
            <a:ext cx="347472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5,875 voice recordings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42 early-stage PD patients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6-month longitudinal home environment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16 acoustic features (Oxford subset)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Continuous Targets: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Motor-UPDRS, Total-UPDRS scores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Role: UPDRS regression training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  + BOCPD changepoint input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Key Finding: Acoustic signals track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UPDRS with MAE ~1.6 (Motor)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3657600" cy="4937760"/>
          </a:xfrm>
          <a:prstGeom prst="rect">
            <a:avLst/>
          </a:prstGeom>
          <a:solidFill>
            <a:srgbClr val="121828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325880"/>
            <a:ext cx="3657600" cy="5029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344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0D14"/>
                </a:solidFill>
                <a:latin typeface="Calibri"/>
              </a:rPr>
              <a:t>Sakar et al. Extended Dataset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8562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CCCCC"/>
                </a:solidFill>
                <a:latin typeface="Calibri"/>
              </a:rPr>
              <a:t>Sakar et al. (2019) — Applied Soft Computing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221992"/>
            <a:ext cx="347472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756 voice recordings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252 subjects (188 PD, 64 healthy)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Advanced features: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MFCCs, Wavelet Transforms,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Vocal Fold features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Binary Classification target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Role: CNN-BiLSTM supplementary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  training for generalizability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Broader acoustic diversity improves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cross-dataset robustness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Key Finding: MFCC + CNN &gt;95%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400800"/>
            <a:ext cx="11548872" cy="338328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1908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E5FF"/>
                </a:solidFill>
                <a:latin typeface="Calibri"/>
              </a:rPr>
              <a:t>Total Training Data:  6,826 voice recordings  |  325 unique subjects  |  3 independent peer-reviewed clinical datasets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Results &amp;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Key Metrics, Visualizations, and Clinical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5FF"/>
                </a:solidFill>
                <a:latin typeface="Calibri"/>
              </a:rPr>
              <a:t>94.7%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Ensemble
Classification Acc.</a:t>
            </a:r>
          </a:p>
        </p:txBody>
      </p:sp>
      <p:sp>
        <p:nvSpPr>
          <p:cNvPr id="8" name="Rectangle 7"/>
          <p:cNvSpPr/>
          <p:nvPr/>
        </p:nvSpPr>
        <p:spPr>
          <a:xfrm>
            <a:off x="2670048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0048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676"/>
                </a:solidFill>
                <a:latin typeface="Calibri"/>
              </a:rPr>
              <a:t>95.1%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0048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CNN-BiLSTM
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0056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0056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300"/>
                </a:solidFill>
                <a:latin typeface="Calibri"/>
              </a:rPr>
              <a:t>MAE 1.6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UPDRS Motor
Prediction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70064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0064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9C27B0"/>
                </a:solidFill>
                <a:latin typeface="Calibri"/>
              </a:rPr>
              <a:t>AUC 0.94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0064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Autoencoder
Anomaly AUC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20072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20072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5722"/>
                </a:solidFill>
                <a:latin typeface="Calibri"/>
              </a:rPr>
              <a:t>&lt;2 sec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72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End-to-End
Inference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743200"/>
            <a:ext cx="5577840" cy="342900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8529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Key Experimental 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00400"/>
            <a:ext cx="53035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SVM (RBF, C=10) on Oxford dataset: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93.2% accuracy, 91.4% sensitivity, 96.7% specificity.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Ensemble weighted vote (SVM 40% + RF 35% + CNN 25%)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achieved 94.7% accuracy on held-out 20% test set.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UPDRS Motor regression (Tsanas model):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MAE = 1.6 UPDRS points matching published benchmark.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Autoencoder z-score threshold = 2.0 sigma above healthy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baseline MSE: correctly flags 94% PD samples (AUC 0.94).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BOCPD detected medication 'Off' phase transitions within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+-1 recording window in 3/4 simulated patient profiles.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Multimodal fusion (voice + tapping) improved composite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sensitivity from 91% (voice-only) to ~96% (multimodal).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2743200"/>
            <a:ext cx="5577840" cy="342900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28529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Deliverables &amp; Clinical Outcomes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200400"/>
            <a:ext cx="53035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Deployed full-stack web app (FastAPI + Three.js + Chart.js)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accessible at http://localhost:8000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Interactive 3D WebGL neural brain visualization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with region focus: Cortex / Substantia Nigra / Vocal Motor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Real-time biomarker radar chart vs. healthy normative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baseline with per-feature clinical status interpretation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Longitudinal UPDRS trend chart with BOCPD changepoints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LSVT LOUD biofeedback: real-time dB SPL meter + MPT timer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GitHub: RaaghavAgarwal28/parkinsons-voice-companion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(fully open-source, reproducible, documented)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Word report: Parkinsons_Voice_Companion_Report.docx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336792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9C27B0"/>
                </a:solidFill>
                <a:latin typeface="Calibri"/>
              </a:rPr>
              <a:t>Future Scope:  Wearable EEG fusion  |  Federated Learning for privacy  |  FDA-grade clinical trial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